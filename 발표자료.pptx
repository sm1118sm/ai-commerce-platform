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46720" y="-457200"/>
            <a:ext cx="4572000" cy="4297680"/>
          </a:xfrm>
          <a:prstGeom prst="roundRect">
            <a:avLst>
              <a:gd name="adj" fmla="val 12000"/>
            </a:avLst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78240" y="2880360"/>
            <a:ext cx="3840480" cy="4206240"/>
          </a:xfrm>
          <a:prstGeom prst="roundRect">
            <a:avLst>
              <a:gd name="adj" fmla="val 12000"/>
            </a:avLst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685800"/>
            <a:ext cx="160020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94944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FFFFFF"/>
                </a:solidFill>
                <a:latin typeface="Malgun Gothic"/>
              </a:rPr>
              <a:t>초보자용 최종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65836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900" b="1">
                <a:solidFill>
                  <a:srgbClr val="FFFFFF"/>
                </a:solidFill>
                <a:latin typeface="Malgun Gothic"/>
              </a:rPr>
              <a:t>StylePick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304288"/>
            <a:ext cx="676656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E2E8F0"/>
                </a:solidFill>
                <a:latin typeface="Malgun Gothic"/>
              </a:rPr>
              <a:t>사용자의 취향을 이해하고
상품을 추천해 주는 AI 쇼핑몰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886200"/>
            <a:ext cx="6583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algun Gothic"/>
              </a:rPr>
              <a:t>회원가입 → 상품 탐색 → AI 추천 → 장바구니 → 모의 결제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4709160"/>
            <a:ext cx="5989320" cy="82296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965192"/>
            <a:ext cx="5532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  <a:latin typeface="Malgun Gothic"/>
              </a:rPr>
              <a:t>한 문장 소개  |  사용자의 관심사와 쇼핑 행동에 따라 추천 상품이 달라지는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071616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94A3B8"/>
                </a:solidFill>
                <a:latin typeface="Malgun Gothic"/>
              </a:rPr>
              <a:t>첫 화면에서는 프로젝트 이름과 한 문장 소개를 말한 뒤, 사용자의 행동을 활용한 개인화 쇼핑몰이라고 설명합니다.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01 · 시작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어떤 문제를 해결하고 싶었나?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91440" cy="114300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문제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2608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모든 사용자에게 똑같은 상품이 보입니다.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64208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664208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847088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문제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94560"/>
            <a:ext cx="292608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새로운 사용자는 구매 기록이 없어 추천하기 어렵습니다.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664208"/>
            <a:ext cx="3429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664208"/>
            <a:ext cx="91440" cy="114300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1847088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문제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2194560"/>
            <a:ext cx="292608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추천 이유가 없으면 사용자가 결과를 신뢰하기 어렵습니다.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246120"/>
            <a:ext cx="10058400" cy="167335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43584" y="3547872"/>
            <a:ext cx="96012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3557015"/>
            <a:ext cx="9601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해결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66160"/>
            <a:ext cx="790956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algun Gothic"/>
              </a:rPr>
              <a:t>관심 카테고리, 예산, 조회·찜·장바구니·구매 기록을 모아
회원마다 다른 상품과 추천 이유를 보여줍니다.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기존 쇼핑몰은 사용자마다 취향이 달라도 같은 상품을 보여주는 경우가 많습니다. 그래서 저는 사용자가 실제로 한 행동을 이용해 각 회원에게 맞는 상품을 보여주는 서비스를 만들었습니다.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02 · 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최종적으로 만든 서비스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645920"/>
            <a:ext cx="6492240" cy="3337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ginner_home_1278x6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649224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54480"/>
            <a:ext cx="6492240" cy="3337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1554480"/>
            <a:ext cx="4023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554480"/>
            <a:ext cx="91440" cy="932688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1" y="1737360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실제 작동하는 웹사이트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1" y="2084831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Streamlit으로 만든 반응형 쇼핑몰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06624"/>
            <a:ext cx="4023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2706624"/>
            <a:ext cx="91440" cy="9326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1" y="2889504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회원별 개인화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1" y="3236976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로그인한 회원의 취향과 행동을 따로 저장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858768"/>
            <a:ext cx="402336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3858768"/>
            <a:ext cx="91440" cy="9326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1" y="4041648"/>
            <a:ext cx="3520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전체 쇼핑 흐름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1" y="4389120"/>
            <a:ext cx="3520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추천뿐 아니라 장바구니·주문·취소·후기까지 구현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단순히 추천 결과만 보여주는 프로그램이 아니라 실제 쇼핑몰처럼 동작하는 웹사이트를 만들었습니다. 회원마다 데이터가 분리되고, 상품을 보고 주문한 뒤 취소하거나 후기를 작성하는 과정까지 연결했습니다.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03 · 사용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사용자는 어떤 순서로 이용하나?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1288" y="2084831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가입·로그인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계정 생성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8716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81528" y="2084831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취향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관심 분야·예산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0740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01768" y="208483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상품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검색·상세 보기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2764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22008" y="2084831"/>
            <a:ext cx="420624" cy="420624"/>
          </a:xfrm>
          <a:prstGeom prst="ellipse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200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행동 기록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조회·찜·담기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80" y="2880360"/>
            <a:ext cx="219456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4788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42248" y="2084831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AI 추천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회원별 추천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75519" y="2880360"/>
            <a:ext cx="219457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68128" y="1828800"/>
            <a:ext cx="1627632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62488" y="2084831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6248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2743200"/>
            <a:ext cx="13533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주문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327355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0">
                <a:solidFill>
                  <a:srgbClr val="64748B"/>
                </a:solidFill>
                <a:latin typeface="Malgun Gothic"/>
              </a:rPr>
              <a:t>결제·취소·후기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4425696"/>
            <a:ext cx="10058400" cy="53035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4553712"/>
            <a:ext cx="9509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사용자가 상품을 볼수록 행동 데이터가 쌓이고, 다음 추천에 바로 반영됩니다.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사용자는 먼저 로그인하고 자신의 관심 분야와 가격대를 설정합니다. 이후 상품을 검색하거나 찜하고 장바구니에 담으면 그 행동이 저장되고, AI 추천 화면에서 더욱 개인화된 상품을 확인할 수 있습니다.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04 · 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어떤 기능들을 구현했나?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0020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81965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246EA"/>
                </a:solidFill>
                <a:latin typeface="Malgun Gothic"/>
              </a:rPr>
              <a:t>회원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180136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회원가입, 로그인 유지,
프로필 수정, 회원탈퇴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60020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181965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2563EB"/>
                </a:solidFill>
                <a:latin typeface="Malgun Gothic"/>
              </a:rPr>
              <a:t>상품 탐색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180136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검색, 카테고리·가격 필터,
정렬, 상세 페이지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546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37413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D946A3"/>
                </a:solidFill>
                <a:latin typeface="Malgun Gothic"/>
              </a:rPr>
              <a:t>AI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335584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관심사와 행동을 반영한
회원별 상품과 추천 이유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3154680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3374136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A34A"/>
                </a:solidFill>
                <a:latin typeface="Malgun Gothic"/>
              </a:rPr>
              <a:t>쇼핑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355848"/>
            <a:ext cx="31089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11827"/>
                </a:solidFill>
                <a:latin typeface="Malgun Gothic"/>
              </a:rPr>
              <a:t>찜, 장바구니, 모의 결제,
취소, 재구매, 후기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54880"/>
            <a:ext cx="10698480" cy="493776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2"/>
            <a:ext cx="1016812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1">
                <a:solidFill>
                  <a:srgbClr val="FFFFFF"/>
                </a:solidFill>
                <a:latin typeface="Malgun Gothic"/>
              </a:rPr>
              <a:t>실제 결제는 발생하지 않지만, 주문과 재고 변화는 실제 데이터베이스에 반영됩니다.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서비스 기능은 크게 회원 관리, 상품 탐색, AI 추천, 쇼핑 기능으로 나눌 수 있습니다. 실제 돈을 받는 결제 시스템은 아니지만, 결제를 누르면 주문이 생성되고 재고가 줄어드는 로직은 실제처럼 구현했습니다.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05 · AI 추천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AI 추천은 어떻게 작동하나?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070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어려운 수식보다 세 단계로 이해하면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8488" y="1993392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84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6246EA"/>
                </a:solidFill>
                <a:latin typeface="Malgun Gothic"/>
              </a:rPr>
              <a:t>사용자 이해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관심 분야와 예산,
최근 쇼핑 행동을 모음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0087" y="3246120"/>
            <a:ext cx="320041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015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61688" y="199339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2563EB"/>
                </a:solidFill>
                <a:latin typeface="Malgun Gothic"/>
              </a:rPr>
              <a:t>상품 이해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AI가 상품명·설명·태그의
의미 특징을 숫자로 바꿈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33288" y="3246120"/>
            <a:ext cx="320039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447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04888" y="1993392"/>
            <a:ext cx="420624" cy="420624"/>
          </a:xfrm>
          <a:prstGeom prst="ellipse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048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D946A3"/>
                </a:solidFill>
                <a:latin typeface="Malgun Gothic"/>
              </a:rPr>
              <a:t>비교와 정렬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사용자와 가까운 상품을 찾고
예산·평점까지 반영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76488" y="3246120"/>
            <a:ext cx="32004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87968" y="1737360"/>
            <a:ext cx="233172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48088" y="1993392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99339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670048"/>
            <a:ext cx="187451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6A34A"/>
                </a:solidFill>
                <a:latin typeface="Malgun Gothic"/>
              </a:rPr>
              <a:t>결과 설명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37560"/>
            <a:ext cx="1828800" cy="7680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11827"/>
                </a:solidFill>
                <a:latin typeface="Malgun Gothic"/>
              </a:rPr>
              <a:t>추천 상품과 함께
추천된 이유를 표시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먼저 사용자가 무엇에 관심이 있고 어떤 상품을 보았는지 확인합니다. AI는 상품 설명의 의미를 숫자 벡터로 바꾼 뒤 사용자 취향과 가까운 상품을 찾고, 마지막으로 예산과 평점을 반영해 순서를 정합니다.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06 · 사용한 AI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TextCNN이란 무엇인가?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4983480" cy="3429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847088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56231"/>
            <a:ext cx="10515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쉽게 말하면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34340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300" b="1">
                <a:solidFill>
                  <a:srgbClr val="FFFFFF"/>
                </a:solidFill>
                <a:latin typeface="Malgun Gothic"/>
              </a:rPr>
              <a:t>상품 설명 속에서
중요한 글자 조합과 표현을 찾아
상품의 특징을 배우는 딥러닝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0520"/>
            <a:ext cx="42062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CBD5E1"/>
                </a:solidFill>
                <a:latin typeface="Malgun Gothic"/>
              </a:rPr>
              <a:t>예: ‘방수’, ‘러닝’, ‘무선’ 같은 표현을 함께 보고
운동용 무선 이어폰과 관련된 상품이라고 학습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572768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572768"/>
            <a:ext cx="91440" cy="141732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75564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학습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103120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상품 30개와
쇼핑 의도 문장 210개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6528" y="1572768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6528" y="1572768"/>
            <a:ext cx="9144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75564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출력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03120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각 상품을 나타내는
100차원 숫자 벡터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33756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337560"/>
            <a:ext cx="91440" cy="141732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52044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모델 크기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867911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약 124KB
가벼운 파일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333756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3337560"/>
            <a:ext cx="91440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59" y="352044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실행 방식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3867911"/>
            <a:ext cx="2011680" cy="795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GPU 없이 NumPy로
빠르게 실행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제가 사용한 AI 모델은 TextCNN입니다. 어려운 용어처럼 보이지만, 상품 설명에서 중요한 글자 조합을 찾아 상품의 특징을 배우는 딥러닝 모델이라고 이해하면 됩니다. 학습은 미리 하고 웹에서는 작은 모델 파일만 사용했습니다.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07 · 개인화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같은 화면인데 왜 추천 결과가 다를까?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72768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91440" cy="128016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회원 A · 전자기기 관심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이어폰과 스마트 기기를 보고 장바구니에 담음
→ 추천 상위에 전자기기 4개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572768"/>
            <a:ext cx="516636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4768" y="1572768"/>
            <a:ext cx="91440" cy="128016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55648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회원 B · 뷰티 관심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663440" cy="65836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립 제품과 피부 관리 상품을 보고 구매함
→ 추천 상위에 뷰티 상품 4개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46120"/>
            <a:ext cx="36576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511296"/>
            <a:ext cx="14630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F172A"/>
                </a:solidFill>
                <a:latin typeface="Malgun Gothic"/>
              </a:rPr>
              <a:t>행동의 중요도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105656"/>
            <a:ext cx="31089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6246EA"/>
                </a:solidFill>
                <a:latin typeface="Malgun Gothic"/>
              </a:rPr>
              <a:t>조회 1  ·  찜 4  ·  장바구니 5  ·  구매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246120"/>
            <a:ext cx="2971800" cy="15544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3511296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CBD5E1"/>
                </a:solidFill>
                <a:latin typeface="Malgun Gothic"/>
              </a:rPr>
              <a:t>추천 목록 중복도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931920"/>
            <a:ext cx="2331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A78BFA"/>
                </a:solidFill>
                <a:latin typeface="Malgun Gothic"/>
              </a:rPr>
              <a:t>14.29%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1272" y="3246120"/>
            <a:ext cx="3419856" cy="1554480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3511296"/>
            <a:ext cx="1280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66534"/>
                </a:solidFill>
                <a:latin typeface="Malgun Gothic"/>
              </a:rPr>
              <a:t>검증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904487"/>
            <a:ext cx="27432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찜·장바구니·주문도
회원별로 완전히 분리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단순히 관심 카테고리만 보는 것이 아니라 사용자의 행동마다 중요도를 다르게 주었습니다. 구매는 조회보다 취향을 더 잘 보여주기 때문에 높은 점수를 주었고, 실제 테스트에서도 전자기기 회원과 뷰티 회원의 추천 결과가 다르게 나왔습니다.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08 · 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추천 모델이 잘 작동하는지 어떻게 확인했나?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3310128" cy="192024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84248"/>
            <a:ext cx="2697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6246EA"/>
                </a:solidFill>
                <a:latin typeface="Malgun Gothic"/>
              </a:rPr>
              <a:t>91.7%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715768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관련 상품을 찾은 비율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82496" y="3154680"/>
            <a:ext cx="126187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82496" y="3163824"/>
            <a:ext cx="126187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Recall@5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645920"/>
            <a:ext cx="3310128" cy="192024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5" y="1984248"/>
            <a:ext cx="2697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2563EB"/>
                </a:solidFill>
                <a:latin typeface="Malgun Gothic"/>
              </a:rPr>
              <a:t>86.3%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5" y="2715768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좋은 상품이 위에 나온 정도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8383" y="3154680"/>
            <a:ext cx="126187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3" y="3163824"/>
            <a:ext cx="126187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2563EB"/>
                </a:solidFill>
                <a:latin typeface="Malgun Gothic"/>
              </a:rPr>
              <a:t>NDCG@5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645920"/>
            <a:ext cx="3310128" cy="192024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84248"/>
            <a:ext cx="26974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800" b="1">
                <a:solidFill>
                  <a:srgbClr val="D946A3"/>
                </a:solidFill>
                <a:latin typeface="Malgun Gothic"/>
              </a:rPr>
              <a:t>87.8%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715768"/>
            <a:ext cx="2697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첫 정답이 빠르게 나온 정도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3154680"/>
            <a:ext cx="126187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3163824"/>
            <a:ext cx="1261872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D946A3"/>
                </a:solidFill>
                <a:latin typeface="Malgun Gothic"/>
              </a:rPr>
              <a:t>MRR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04487"/>
            <a:ext cx="5138928" cy="1051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151376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CBD5E1"/>
                </a:solidFill>
                <a:latin typeface="Malgun Gothic"/>
              </a:rPr>
              <a:t>추천 평균 실행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059936"/>
            <a:ext cx="2148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A78BFA"/>
                </a:solidFill>
                <a:latin typeface="Malgun Gothic"/>
              </a:rPr>
              <a:t>0.0127초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904487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151376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안전장치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33087"/>
            <a:ext cx="35204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6534"/>
                </a:solidFill>
                <a:latin typeface="Malgun Gothic"/>
              </a:rPr>
              <a:t>정확도가 기준 이하이면 자동 배포 중단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모델은 감으로 평가하지 않고 관련 상품을 얼마나 잘 찾았는지, 좋은 상품이 위쪽에 배치됐는지를 수치로 확인했습니다. 또한 추천은 평균 0.0127초에 계산되어 사용자가 기다리지 않도록 했고, 정확도가 낮아지면 자동 테스트가 배포를 막습니다.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09 · 데이터베이스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사용자 데이터는 어디에 저장되나?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2880360" cy="3337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847088"/>
            <a:ext cx="82296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56231"/>
            <a:ext cx="8229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32304"/>
            <a:ext cx="23317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Malgun Gothic"/>
              </a:rPr>
              <a:t>데이터베이스는
온라인 서류함과 같습니다.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22191"/>
            <a:ext cx="2286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CBD5E1"/>
                </a:solidFill>
                <a:latin typeface="Malgun Gothic"/>
              </a:rPr>
              <a:t>Aiven이라는 클라우드 서비스에
MySQL 8.4 데이터베이스를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1554480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13632" y="1554480"/>
            <a:ext cx="91440" cy="896112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4" y="1737360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2084831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 이메일·닉네임·상태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1" y="1554480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62671" y="1554480"/>
            <a:ext cx="91440" cy="896112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3" y="1737360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behavior_logs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3" y="2084831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조회·검색·찜·구매 행동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13632" y="2660904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13632" y="2660904"/>
            <a:ext cx="91440" cy="8961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9664" y="2843784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9664" y="3191256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상품·가격·현재 재고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1" y="2660904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1" y="2660904"/>
            <a:ext cx="91440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3" y="2843784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59E0B"/>
                </a:solidFill>
                <a:latin typeface="Malgun Gothic"/>
              </a:rPr>
              <a:t>user_cart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3" y="3191256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회원별 장바구니와 수량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13632" y="3767328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13632" y="3767328"/>
            <a:ext cx="91440" cy="8961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9664" y="3950208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user_orders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9664" y="4297680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주문 금액·상태·시간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1" y="3767328"/>
            <a:ext cx="3401568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62671" y="3767328"/>
            <a:ext cx="91440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8703" y="3950208"/>
            <a:ext cx="2898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B5CF6"/>
                </a:solidFill>
                <a:latin typeface="Malgun Gothic"/>
              </a:rPr>
              <a:t>product_reviews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3" y="4297680"/>
            <a:ext cx="2898648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구매 회원이 작성한 후기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13632" y="4663440"/>
            <a:ext cx="7150608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96512" y="4700016"/>
            <a:ext cx="6766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64748B"/>
                </a:solidFill>
                <a:latin typeface="Malgun Gothic"/>
              </a:rPr>
              <a:t>DBeaver로 회원 목록과 행동 데이터를 표 형태로 확인할 수 있습니다.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데이터베이스는 회원과 상품 정보를 보관하는 온라인 서류함이라고 설명할 수 있습니다. 저는 Aiven의 MySQL을 사용했고, 회원·행동·상품·장바구니·주문·후기를 각각 다른 표에 저장한 뒤 user_id로 연결했습니다.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10 · 로그인과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로그인한 사용자는 어떻게 안전하게 관리하나?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600200"/>
            <a:ext cx="4892040" cy="340156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ginner_login_962x6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08760"/>
            <a:ext cx="4892040" cy="340156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4892040" cy="34015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61888" y="1645919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645919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1600200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비밀번호 해시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581912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비밀번호 원문을 저장하지 않고 되돌리기 어려운 값으로 변환</a:t>
            </a:r>
          </a:p>
        </p:txBody>
      </p:sp>
      <p:sp>
        <p:nvSpPr>
          <p:cNvPr id="11" name="Oval 10"/>
          <p:cNvSpPr/>
          <p:nvPr/>
        </p:nvSpPr>
        <p:spPr>
          <a:xfrm>
            <a:off x="5961888" y="253288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2532888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487168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2시간 로그인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서명된 쿠키로 새로고침 후에도 로그인 복원</a:t>
            </a:r>
          </a:p>
        </p:txBody>
      </p:sp>
      <p:sp>
        <p:nvSpPr>
          <p:cNvPr id="15" name="Oval 14"/>
          <p:cNvSpPr/>
          <p:nvPr/>
        </p:nvSpPr>
        <p:spPr>
          <a:xfrm>
            <a:off x="5961888" y="341985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3419856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374136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회원별 소유권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55848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자신의 프로필·찜·장바구니·주문만 조회하고 변경</a:t>
            </a:r>
          </a:p>
        </p:txBody>
      </p:sp>
      <p:sp>
        <p:nvSpPr>
          <p:cNvPr id="19" name="Oval 18"/>
          <p:cNvSpPr/>
          <p:nvPr/>
        </p:nvSpPr>
        <p:spPr>
          <a:xfrm>
            <a:off x="5961888" y="4306824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61888" y="4306824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1104"/>
            <a:ext cx="15727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F172A"/>
                </a:solidFill>
                <a:latin typeface="Malgun Gothic"/>
              </a:rPr>
              <a:t>중요 정보 변경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42816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80" b="1">
                <a:solidFill>
                  <a:srgbClr val="111827"/>
                </a:solidFill>
                <a:latin typeface="Malgun Gothic"/>
              </a:rPr>
              <a:t>현재 비밀번호가 맞아야 프로필과 비밀번호 수정 가능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4572000"/>
            <a:ext cx="5330952" cy="411480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663440"/>
            <a:ext cx="4846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1">
                <a:solidFill>
                  <a:srgbClr val="166534"/>
                </a:solidFill>
                <a:latin typeface="Malgun Gothic"/>
              </a:rPr>
              <a:t>이메일·닉네임·전화번호 중복 가입도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비밀번호는 그대로 저장하지 않고 해시라는 복구하기 어려운 형태로 바꿔 저장했습니다. 로그인 유지 버튼을 선택하면 서명된 쿠키를 2시간 동안 임시 출입증처럼 사용하며, 중요한 정보는 현재 비밀번호를 다시 확인해야 바꿀 수 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11 · 쇼핑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모의 결제를 누르면 실제로 무엇이 일어나나?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수량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1~10개 제한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8716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9864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재고 재확인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서버에서 다시 검사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2744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3892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주문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결제 내역 저장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6772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7920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재고 차감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구매 수량만큼 감소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08008" y="2350008"/>
            <a:ext cx="301752" cy="0"/>
          </a:xfrm>
          <a:prstGeom prst="line">
            <a:avLst/>
          </a:prstGeom>
          <a:ln w="2286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19488" y="164592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874519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246EA"/>
                </a:solidFill>
                <a:latin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267712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F172A"/>
                </a:solidFill>
                <a:latin typeface="Malgun Gothic"/>
              </a:rPr>
              <a:t>취소 처리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651760"/>
            <a:ext cx="148132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상태 변경 후 재고 복구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19" y="3493008"/>
            <a:ext cx="6720840" cy="157276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eginner_orders_1323x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01568"/>
            <a:ext cx="6720840" cy="157276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58368" y="3401568"/>
            <a:ext cx="6720840" cy="15727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26679" y="3401568"/>
            <a:ext cx="3584448" cy="157276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65760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추가 안전장치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078224"/>
            <a:ext cx="2926080" cy="640080"/>
          </a:xfrm>
          <a:prstGeom prst="rect">
            <a:avLst/>
          </a:prstGeom>
          <a:noFill/>
        </p:spPr>
        <p:txBody>
          <a:bodyPr wrap="square" lIns="36576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50">
                <a:solidFill>
                  <a:srgbClr val="E2E8F0"/>
                </a:solidFill>
                <a:latin typeface="Malgun Gothic"/>
              </a:defRPr>
            </a:pPr>
            <a:r>
              <a:t>• 재고 부족 시 주문 차단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950">
                <a:solidFill>
                  <a:srgbClr val="E2E8F0"/>
                </a:solidFill>
                <a:latin typeface="Malgun Gothic"/>
              </a:defRPr>
            </a:pPr>
            <a:r>
              <a:t>• 품절 버튼 비활성화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950">
                <a:solidFill>
                  <a:srgbClr val="E2E8F0"/>
                </a:solidFill>
                <a:latin typeface="Malgun Gothic"/>
              </a:defRPr>
            </a:pPr>
            <a:r>
              <a:t>• 구매 회원만 후기 작성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모의 결제이지만 주문과 재고 처리는 실제 이커머스처럼 만들었습니다. 결제 직전에 재고를 다시 확인하고 주문이 성공하면 재고가 줄어듭니다. 주문을 취소하면 상태가 취소 완료로 바뀌고 재고가 다시 복구됩니다.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12 · 화면과 배포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어떤 기술로 웹사이트를 운영하나?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572768"/>
            <a:ext cx="5760720" cy="34290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ginner_recommend_1134x6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576072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481328"/>
            <a:ext cx="5760720" cy="342900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93992" y="1481328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93992" y="1481328"/>
            <a:ext cx="91440" cy="137160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50024" y="16642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0024" y="2011680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사용자가 보는 웹 화면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712" y="1481328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25712" y="1481328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81744" y="1664208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1744" y="2011680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추천·로그인·주문 로직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3992" y="3182112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93992" y="3182112"/>
            <a:ext cx="9144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024" y="3364992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Aiven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3712464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회원과 쇼핑 데이터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2" y="3182112"/>
            <a:ext cx="20574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5712" y="3182112"/>
            <a:ext cx="91440" cy="137160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3364992"/>
            <a:ext cx="1554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3712464"/>
            <a:ext cx="15544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오류와 속도를 자동 검사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93992" y="4626864"/>
            <a:ext cx="4389120" cy="292608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663440"/>
            <a:ext cx="40416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166534"/>
                </a:solidFill>
                <a:latin typeface="Malgun Gothic"/>
              </a:rPr>
              <a:t>화면 폭에 따라 자동으로 정리되는 반응형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화면은 Python 기반의 Streamlit으로 만들었고, 데이터는 Aiven MySQL에 저장했습니다. GitHub에 코드를 올리면 자동 테스트가 실행되고, 테스트를 통과한 코드가 Streamlit 사이트에 배포됩니다. 모바일과 웹 화면도 모두 지원합니다.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13 · 회원가입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회원가입 정보는 어떻게 확인하나?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5074920" cy="3547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783080"/>
            <a:ext cx="1920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6246EA"/>
                </a:solidFill>
                <a:latin typeface="Malgun Gothic"/>
              </a:rPr>
              <a:t>DB 중복 확인</a:t>
            </a:r>
          </a:p>
        </p:txBody>
      </p:sp>
      <p:sp>
        <p:nvSpPr>
          <p:cNvPr id="6" name="Oval 5"/>
          <p:cNvSpPr/>
          <p:nvPr/>
        </p:nvSpPr>
        <p:spPr>
          <a:xfrm>
            <a:off x="950976" y="2395728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395728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459736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이메일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432304"/>
            <a:ext cx="29718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11827"/>
                </a:solidFill>
                <a:latin typeface="Malgun Gothic"/>
              </a:rPr>
              <a:t>MySQL users 테이블에서 같은 이메일 확인</a:t>
            </a:r>
          </a:p>
        </p:txBody>
      </p:sp>
      <p:sp>
        <p:nvSpPr>
          <p:cNvPr id="10" name="Oval 9"/>
          <p:cNvSpPr/>
          <p:nvPr/>
        </p:nvSpPr>
        <p:spPr>
          <a:xfrm>
            <a:off x="950976" y="316382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163824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227832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닉네임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200400"/>
            <a:ext cx="29718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11827"/>
                </a:solidFill>
                <a:latin typeface="Malgun Gothic"/>
              </a:rPr>
              <a:t>대소문자를 정리한 뒤 같은 닉네임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950976" y="3931920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931920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995928"/>
            <a:ext cx="822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F172A"/>
                </a:solidFill>
                <a:latin typeface="Malgun Gothic"/>
              </a:rPr>
              <a:t>전화번호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968496"/>
            <a:ext cx="29718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111827"/>
                </a:solidFill>
                <a:latin typeface="Malgun Gothic"/>
              </a:rPr>
              <a:t>010-1234-5678 형태로 자동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4553712"/>
            <a:ext cx="4462272" cy="310896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599432"/>
            <a:ext cx="4114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1">
                <a:solidFill>
                  <a:srgbClr val="166534"/>
                </a:solidFill>
                <a:latin typeface="Malgun Gothic"/>
              </a:rPr>
              <a:t>이메일과 닉네임 중복 확인을 통과해야 회원가입 버튼 활성화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3328" y="1508760"/>
            <a:ext cx="5257800" cy="354787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783080"/>
            <a:ext cx="1920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Malgun Gothic"/>
              </a:rPr>
              <a:t>비밀번호 규칙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331720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331720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8자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너무 짧은 비밀번호 차단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944368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944368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영문 대문자 1개 이상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44368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예: Stylepick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557015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557015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특수문자 1개 이상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57015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예: ! @ # $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169664"/>
            <a:ext cx="320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A78BFA"/>
                </a:solidFill>
                <a:latin typeface="Malgun Gothic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4169664"/>
            <a:ext cx="1600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FFFFFF"/>
                </a:solidFill>
                <a:latin typeface="Malgun Gothic"/>
              </a:rPr>
              <a:t>비밀번호 확인 일치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6966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두 입력값이 같아야 가입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72000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86EFAC"/>
                </a:solidFill>
                <a:latin typeface="Malgun Gothic"/>
              </a:rPr>
              <a:t>저장할 때는 원문이 아니라 PBKDF2 해시로 변환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회원가입을 할 때 이메일과 닉네임이 이미 사용 중인지 MySQL 데이터베이스에서 확인합니다. 비밀번호는 8자 이상이며 대문자와 특수문자를 각각 한 개 이상 포함해야 하고, 비밀번호 확인 입력까지 일치해야 가입할 수 있습니다.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14 · 로그인 후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개인화 설정과 결제 내역을 한곳에서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3767328" cy="361188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731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4748B"/>
                </a:solidFill>
                <a:latin typeface="Malgun Gothic"/>
              </a:rPr>
              <a:t>로그인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171907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2563EB"/>
                </a:solidFill>
                <a:latin typeface="Malgun Gothic"/>
              </a:rPr>
              <a:t>sm1118sm@gmail.com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103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F172A"/>
                </a:solidFill>
                <a:latin typeface="Malgun Gothic"/>
              </a:rPr>
              <a:t>👤  ads님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1645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AI 추천 취향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27248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11827"/>
                </a:solidFill>
                <a:latin typeface="Malgun Gothic"/>
              </a:rPr>
              <a:t>관심 카테고리 (AI 추천)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438144"/>
            <a:ext cx="3200400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29584"/>
            <a:ext cx="28529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최대 3개 카테고리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05072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111827"/>
                </a:solidFill>
                <a:latin typeface="Malgun Gothic"/>
              </a:rPr>
              <a:t>관심 가격대 (AI 추천)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370832"/>
            <a:ext cx="3200400" cy="109728"/>
          </a:xfrm>
          <a:prstGeom prst="roundRect">
            <a:avLst>
              <a:gd name="adj" fmla="val 12000"/>
            </a:avLst>
          </a:prstGeom>
          <a:solidFill>
            <a:srgbClr val="D7D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4370832"/>
            <a:ext cx="3200400" cy="109728"/>
          </a:xfrm>
          <a:prstGeom prst="roundRect">
            <a:avLst>
              <a:gd name="adj" fmla="val 12000"/>
            </a:avLst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72000"/>
            <a:ext cx="5486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0원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4572000"/>
            <a:ext cx="78638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64748B"/>
                </a:solidFill>
                <a:latin typeface="Malgun Gothic"/>
              </a:rPr>
              <a:t>229,000원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800600"/>
            <a:ext cx="3200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16A34A"/>
                </a:solidFill>
                <a:latin typeface="Malgun Gothic"/>
              </a:rPr>
              <a:t>상품 탐색 필터와 별개로 AI 추천에 계속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965192"/>
            <a:ext cx="3200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1">
                <a:solidFill>
                  <a:srgbClr val="64748B"/>
                </a:solidFill>
                <a:latin typeface="Malgun Gothic"/>
              </a:rPr>
              <a:t>프로필 수정은 현재 비밀번호 확인 후 가능 · 회원탈퇴 제공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481328"/>
            <a:ext cx="6601968" cy="361188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F172A"/>
                </a:solidFill>
                <a:latin typeface="Malgun Gothic"/>
              </a:rPr>
              <a:t>결제 내역 · 5건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2176272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2212848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2,290,000원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423160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14:43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258568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6A34A"/>
                </a:solidFill>
                <a:latin typeface="Malgun Gothic"/>
              </a:rPr>
              <a:t>10개 · 결제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258568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FHD 자동초점 스마트 미니빔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2258568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DEMO-661A76F7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2688336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8" y="2724912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229,000원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2935224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14:42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70632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64748B"/>
                </a:solidFill>
                <a:latin typeface="Malgun Gothic"/>
              </a:rPr>
              <a:t>1개 · 주문 취소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770632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FHD 자동초점 스마트 미니빔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2770632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DEMO-647368A7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3200400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3236976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229,000원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3447288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12:55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282696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64748B"/>
                </a:solidFill>
                <a:latin typeface="Malgun Gothic"/>
              </a:rPr>
              <a:t>1개 · 주문 취소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282696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FHD 자동초점 스마트 미니빔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3282696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DEMO-57AC6129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83480" y="3712464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928" y="3749040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890,000원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38928" y="3959352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12:39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794760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64748B"/>
                </a:solidFill>
                <a:latin typeface="Malgun Gothic"/>
              </a:rPr>
              <a:t>10개 · 주문 취소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794760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고프코어 발수 러닝 윈드브레이커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2096" y="3794760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DEMO-30D4CD32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4224528"/>
            <a:ext cx="60533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38928" y="4261104"/>
            <a:ext cx="11704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6246EA"/>
                </a:solidFill>
                <a:latin typeface="Malgun Gothic"/>
              </a:rPr>
              <a:t>245,000원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8928" y="4471416"/>
            <a:ext cx="1170432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90" b="0">
                <a:solidFill>
                  <a:srgbClr val="94A3B8"/>
                </a:solidFill>
                <a:latin typeface="Malgun Gothic"/>
              </a:rPr>
              <a:t>07-28 12:10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4306824"/>
            <a:ext cx="1234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6A34A"/>
                </a:solidFill>
                <a:latin typeface="Malgun Gothic"/>
              </a:rPr>
              <a:t>5개 · 결제 완료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4306824"/>
            <a:ext cx="22402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30" b="1">
                <a:solidFill>
                  <a:srgbClr val="111827"/>
                </a:solidFill>
                <a:latin typeface="Malgun Gothic"/>
              </a:rPr>
              <a:t>선셋 무드 가습 아로마 디퓨저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2096" y="4306824"/>
            <a:ext cx="9601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720" b="0">
                <a:solidFill>
                  <a:srgbClr val="94A3B8"/>
                </a:solidFill>
                <a:latin typeface="Malgun Gothic"/>
              </a:rPr>
              <a:t>DEMO-37D6B643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846320"/>
            <a:ext cx="5897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>
                <a:solidFill>
                  <a:srgbClr val="D946A3"/>
                </a:solidFill>
                <a:latin typeface="Malgun Gothic"/>
              </a:rPr>
              <a:t>최근 모의결제 5건 · 개인화 행동 78건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로그인 후에는 AI 추천 전용 관심 카테고리와 가격대를 저장할 수 있습니다. 이 값은 일반 상품 검색 필터와는 별개입니다. 사이드바에서는 최근 모의결제 5건과 주문 상태를 확인하고, 현재 78건의 개인화 행동이 추천에 반영됐다는 것도 볼 수 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15 · 홈과 AI 추천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로그인하면 무엇을 한눈에 볼 수 있나?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63040"/>
            <a:ext cx="3657600" cy="36118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" y="1737360"/>
            <a:ext cx="1554480" cy="329184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46504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4B5FD"/>
                </a:solidFill>
                <a:latin typeface="Malgun Gothic"/>
              </a:rPr>
              <a:t>PERSONAL SHOPPING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303580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FFFFFF"/>
                </a:solidFill>
                <a:latin typeface="Malgun Gothic"/>
              </a:rPr>
              <a:t>취향을 발견하는
가장 똑똑한 쇼핑.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29000"/>
            <a:ext cx="299923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CBD5E1"/>
                </a:solidFill>
                <a:latin typeface="Malgun Gothic"/>
              </a:rPr>
              <a:t>ads님의 관심사와 최근 행동을 바탕으로
추천 이유까지 함께 제공합니다.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096512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4096512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096512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4096512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535424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535424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나의 행동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4535424"/>
            <a:ext cx="53035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A78BFA"/>
                </a:solidFill>
                <a:latin typeface="Malgun Gothic"/>
              </a:rPr>
              <a:t>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4535424"/>
            <a:ext cx="8046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추천 모델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5152" y="146304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166420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AMOLED 헬스 트래킹 스마트워치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22199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6246EA"/>
                </a:solidFill>
                <a:latin typeface="Malgun Gothic"/>
              </a:rPr>
              <a:t>전자기기 · 169,000원 · ★4.7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254203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258775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46304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66420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고프코어 발수 러닝 윈드브레이커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2199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D946A3"/>
                </a:solidFill>
                <a:latin typeface="Malgun Gothic"/>
              </a:rPr>
              <a:t>패션 · 89,000원 · ★4.8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54203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58775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324612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344728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UV 차단 스트링 버킷햇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00507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2563EB"/>
                </a:solidFill>
                <a:latin typeface="Malgun Gothic"/>
              </a:rPr>
              <a:t>패션 · 32,000원 · ★4.5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8032" y="432511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01184" y="4370831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24612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447288"/>
            <a:ext cx="26974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1">
                <a:solidFill>
                  <a:srgbClr val="0F172A"/>
                </a:solidFill>
                <a:latin typeface="Malgun Gothic"/>
              </a:rPr>
              <a:t>데일리 리커버리 쿠션 스니커즈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005072"/>
            <a:ext cx="2697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16A34A"/>
                </a:solidFill>
                <a:latin typeface="Malgun Gothic"/>
              </a:rPr>
              <a:t>패션 · 109,000원 · ★4.8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325112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4370831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166534"/>
                </a:solidFill>
                <a:latin typeface="Malgun Gothic"/>
              </a:rPr>
              <a:t>찜한 상품과 유사 · 예산 범위 포함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홈 화면에서는 상품 30개, 카테고리 6개, 반영된 행동 78건, CNN 추천 모델을 한눈에 확인할 수 있습니다. 추천 상품에는 가격과 평점뿐 아니라 찜한 상품과 비슷한지, 설정한 예산 안에 들어오는지 같은 추천 이유도 함께 보여줍니다.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16 · 상품 탐색과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상품을 쉽게 찾고 안심하고 사용할 수 있게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44752"/>
            <a:ext cx="6675120" cy="3611880"/>
          </a:xfrm>
          <a:prstGeom prst="roundRect">
            <a:avLst>
              <a:gd name="adj" fmla="val 12000"/>
            </a:avLst>
          </a:prstGeom>
          <a:solidFill>
            <a:srgbClr val="F5F7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09928"/>
            <a:ext cx="2743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0F172A"/>
                </a:solidFill>
                <a:latin typeface="Malgun Gothic"/>
              </a:rPr>
              <a:t>모든 상품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30428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상품 검색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596896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679192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상품명이나 설명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230428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카테고리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2596896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679192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6개 분야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304288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정렬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596896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2679192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인기순·가격순·평점순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145536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가격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438144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520440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0원~229,000원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145536"/>
            <a:ext cx="10058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6246EA"/>
                </a:solidFill>
                <a:latin typeface="Malgun Gothic"/>
              </a:rPr>
              <a:t>페이지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90088" y="3438144"/>
            <a:ext cx="1783080" cy="3566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6" y="3520440"/>
            <a:ext cx="1554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64748B"/>
                </a:solidFill>
                <a:latin typeface="Malgun Gothic"/>
              </a:rPr>
              <a:t>30개 상품 · 4페이지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선크림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뷰티 · 27,000원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59736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수분 세럼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1176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뷰티 · 32,000원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86783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8223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ANC 헤드폰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8223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전자기기 · 139,000원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13831" y="4187952"/>
            <a:ext cx="1298448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1" y="4288536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0F172A"/>
                </a:solidFill>
                <a:latin typeface="Malgun Gothic"/>
              </a:rPr>
              <a:t>에너지바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1" y="4535424"/>
            <a:ext cx="1097280" cy="1737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" b="0">
                <a:solidFill>
                  <a:srgbClr val="64748B"/>
                </a:solidFill>
                <a:latin typeface="Malgun Gothic"/>
              </a:rPr>
              <a:t>식품 · 32,000원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62672" y="1444752"/>
            <a:ext cx="363931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62672" y="1444752"/>
            <a:ext cx="91440" cy="896112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18704" y="1627632"/>
            <a:ext cx="313639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안전한 계정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1975104"/>
            <a:ext cx="3136391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PBKDF2 해시로 비밀번호 저장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2672" y="2569464"/>
            <a:ext cx="363931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2569464"/>
            <a:ext cx="91440" cy="896112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18704" y="2752344"/>
            <a:ext cx="313639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설명 가능한 추천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8704" y="3099816"/>
            <a:ext cx="3136391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상품마다 추천 이유 표시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62672" y="3694176"/>
            <a:ext cx="3639312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62672" y="3694176"/>
            <a:ext cx="91440" cy="8961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18704" y="3877056"/>
            <a:ext cx="3136391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안심 데모 쇼핑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8704" y="4224528"/>
            <a:ext cx="3136391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실제 결제는 발생하지 않음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62672" y="4599432"/>
            <a:ext cx="3639312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4709160"/>
            <a:ext cx="332841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880" b="1">
                <a:solidFill>
                  <a:srgbClr val="FFFFFF"/>
                </a:solidFill>
                <a:latin typeface="Malgun Gothic"/>
              </a:rPr>
              <a:t>반응형 화면 · 뒤로가기 · 빠른 버튼 피드백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상품 탐색 화면에서는 검색, 카테고리, 정렬, 가격 범위, 페이지 기능으로 30개 상품을 쉽게 찾을 수 있습니다. 화면 아래에는 비밀번호 보안, 추천 이유, 모의 결제 안내를 표시해 사용자가 안심하도록 했고, 모바일과 웹 화면 모두 자연스럽게 보이도록 반응형 UI를 적용했습니다.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17 · 사용자 DB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DBeaver에서 회원과 행동 데이터를 직접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508760"/>
            <a:ext cx="6839712" cy="3639312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ginner_dbeaver_1346x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6839712" cy="36393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417320"/>
            <a:ext cx="6839712" cy="3639312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493008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7" y="1691640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6246EA"/>
                </a:solidFill>
                <a:latin typeface="Malgun Gothic"/>
              </a:rPr>
              <a:t>조회 과정</a:t>
            </a:r>
          </a:p>
        </p:txBody>
      </p:sp>
      <p:sp>
        <p:nvSpPr>
          <p:cNvPr id="9" name="Oval 8"/>
          <p:cNvSpPr/>
          <p:nvPr/>
        </p:nvSpPr>
        <p:spPr>
          <a:xfrm>
            <a:off x="8119872" y="2176272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9872" y="217627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94560"/>
            <a:ext cx="13258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F172A"/>
                </a:solidFill>
                <a:latin typeface="Malgun Gothic"/>
              </a:rPr>
              <a:t>Aiven MySQL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2194560"/>
            <a:ext cx="960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64748B"/>
                </a:solidFill>
                <a:latin typeface="Malgun Gothic"/>
              </a:rPr>
              <a:t>defaultdb 선택</a:t>
            </a:r>
          </a:p>
        </p:txBody>
      </p:sp>
      <p:sp>
        <p:nvSpPr>
          <p:cNvPr id="13" name="Oval 12"/>
          <p:cNvSpPr/>
          <p:nvPr/>
        </p:nvSpPr>
        <p:spPr>
          <a:xfrm>
            <a:off x="8119872" y="2770632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277063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788920"/>
            <a:ext cx="13258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F172A"/>
                </a:solidFill>
                <a:latin typeface="Malgun Gothic"/>
              </a:rPr>
              <a:t>SQL 편집기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788920"/>
            <a:ext cx="960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64748B"/>
                </a:solidFill>
                <a:latin typeface="Malgun Gothic"/>
              </a:rPr>
              <a:t>조회 SQL 작성</a:t>
            </a:r>
          </a:p>
        </p:txBody>
      </p:sp>
      <p:sp>
        <p:nvSpPr>
          <p:cNvPr id="17" name="Oval 16"/>
          <p:cNvSpPr/>
          <p:nvPr/>
        </p:nvSpPr>
        <p:spPr>
          <a:xfrm>
            <a:off x="8119872" y="3364991"/>
            <a:ext cx="420624" cy="420624"/>
          </a:xfrm>
          <a:prstGeom prst="ellipse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336499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383279"/>
            <a:ext cx="13258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F172A"/>
                </a:solidFill>
                <a:latin typeface="Malgun Gothic"/>
              </a:rPr>
              <a:t>테이블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3383279"/>
            <a:ext cx="960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64748B"/>
                </a:solidFill>
                <a:latin typeface="Malgun Gothic"/>
              </a:rPr>
              <a:t>users + behavior_logs + products</a:t>
            </a:r>
          </a:p>
        </p:txBody>
      </p:sp>
      <p:sp>
        <p:nvSpPr>
          <p:cNvPr id="21" name="Oval 20"/>
          <p:cNvSpPr/>
          <p:nvPr/>
        </p:nvSpPr>
        <p:spPr>
          <a:xfrm>
            <a:off x="8119872" y="3959352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3959352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3977639"/>
            <a:ext cx="132588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F172A"/>
                </a:solidFill>
                <a:latin typeface="Malgun Gothic"/>
              </a:rPr>
              <a:t>결과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977639"/>
            <a:ext cx="960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80" b="1">
                <a:solidFill>
                  <a:srgbClr val="64748B"/>
                </a:solidFill>
                <a:latin typeface="Malgun Gothic"/>
              </a:rPr>
              <a:t>회원별 행동 78행 조회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7" y="4379976"/>
            <a:ext cx="2907792" cy="438912"/>
          </a:xfrm>
          <a:prstGeom prst="roundRect">
            <a:avLst>
              <a:gd name="adj" fmla="val 12000"/>
            </a:avLst>
          </a:prstGeom>
          <a:solidFill>
            <a:srgbClr val="DFF7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425696"/>
            <a:ext cx="267004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40" b="1">
                <a:solidFill>
                  <a:srgbClr val="166534"/>
                </a:solidFill>
                <a:latin typeface="Malgun Gothic"/>
              </a:rPr>
              <a:t>VIEW 조회 · CART_ADD 담기 · WISHLIST_ADD 찜
PURCHASE 구매 · PURCHASE_CANCEL 취소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855464"/>
            <a:ext cx="2743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70" b="1">
                <a:solidFill>
                  <a:srgbClr val="64748B"/>
                </a:solidFill>
                <a:latin typeface="Malgun Gothic"/>
              </a:rPr>
              <a:t>78행 · 이메일·닉네임·상품·세션·시각 함께 조회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Aiven MySQL은 DBeaver로 직접 확인할 수 있습니다. users, behavior_logs, products를 연결한 SQL 결과로 이메일·닉네임·행동·상품·세션·시각 78행을 확인했습니다. VIEW는 조회, CART_ADD는 담기, PURCHASE는 구매를 뜻하며 운영 DB에서는 조회 중심으로 관리합니다.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18 ·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F172A"/>
                </a:solidFill>
                <a:latin typeface="Malgun Gothic"/>
              </a:rPr>
              <a:t>이 프로젝트를 통해 완성한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087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91440" cy="1097280"/>
          </a:xfrm>
          <a:prstGeom prst="rect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6246EA"/>
                </a:solidFill>
                <a:latin typeface="Malgun Gothic"/>
              </a:rPr>
              <a:t>하나의 완성된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로그인부터 추천·주문·취소·후기까지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508760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0488" y="1508760"/>
            <a:ext cx="91440" cy="1097280"/>
          </a:xfrm>
          <a:prstGeom prst="rect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946A3"/>
                </a:solidFill>
                <a:latin typeface="Malgun Gothic"/>
              </a:rPr>
              <a:t>실제로 달라지는 추천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2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회원별 행동에 따라 추천 목록이 달라짐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62072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62072"/>
            <a:ext cx="9144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44952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563EB"/>
                </a:solidFill>
                <a:latin typeface="Malgun Gothic"/>
              </a:rPr>
              <a:t>빠르고 가벼운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92424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작은 TextCNN 모델을 평균 0.0127초에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862072"/>
            <a:ext cx="51663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2862072"/>
            <a:ext cx="9144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44952"/>
            <a:ext cx="4663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6A34A"/>
                </a:solidFill>
                <a:latin typeface="Malgun Gothic"/>
              </a:rPr>
              <a:t>관리 가능한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92424"/>
            <a:ext cx="4663440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1">
                <a:solidFill>
                  <a:srgbClr val="111827"/>
                </a:solidFill>
                <a:latin typeface="Malgun Gothic"/>
              </a:rPr>
              <a:t>MySQL과 DBeaver로 회원·행동·주문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498848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80" b="1">
                <a:solidFill>
                  <a:srgbClr val="FFFFFF"/>
                </a:solidFill>
                <a:latin typeface="Malgun Gothic"/>
              </a:rPr>
              <a:t>현재는 포트폴리오용 모의 쇼핑몰이며, 실제 결제·배송·대규모 사용자 데이터는 향후 확장 영역입니다.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32120"/>
            <a:ext cx="10881360" cy="749808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724144"/>
            <a:ext cx="8686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A78BFA"/>
                </a:solidFill>
                <a:latin typeface="Malgun Gothic"/>
              </a:rPr>
              <a:t>발표할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50992"/>
            <a:ext cx="934516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FFFFFF"/>
                </a:solidFill>
                <a:latin typeface="Malgun Gothic"/>
              </a:rPr>
              <a:t>이 프로젝트에서 가장 중요한 결과는 AI 모델만 만든 것이 아니라 추천이 실제 쇼핑 과정으로 이어지는 서비스를 완성했다는 점입니다. 현재는 포트폴리오용 모의 결제 서비스이며, 앞으로 실제 사용자 로그와 결제·배송 기능을 연결할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8B5CF6"/>
                </a:solidFill>
                <a:latin typeface="Malgun Gothic"/>
              </a:rPr>
              <a:t>19 · 발표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</a:rPr>
              <a:t>라이브 시연은 이 순서로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9032"/>
            <a:ext cx="106070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5E1"/>
                </a:solidFill>
                <a:latin typeface="Malgun Gothic"/>
              </a:rPr>
              <a:t>기능을 모두 보여주기보다 개인화가 달라지는 핵심 흐름에 집중합니다.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084831"/>
            <a:ext cx="420624" cy="420624"/>
          </a:xfrm>
          <a:prstGeom prst="ellipse">
            <a:avLst/>
          </a:prstGeom>
          <a:solidFill>
            <a:srgbClr val="624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로그인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회원 계정으로 접속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8024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71216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1024" y="2084831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취향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관심 카테고리와 예산 선택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18888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61888" y="2084831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상품 행동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상품을 조회하고 찜·장바구니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9752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52944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02752" y="2084831"/>
            <a:ext cx="420624" cy="420624"/>
          </a:xfrm>
          <a:prstGeom prst="ellipse">
            <a:avLst/>
          </a:prstGeom>
          <a:solidFill>
            <a:srgbClr val="D946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3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AI 추천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3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추천 결과와 이유 확인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00616" y="2871216"/>
            <a:ext cx="310896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93808" y="1828800"/>
            <a:ext cx="1947672" cy="2057400"/>
          </a:xfrm>
          <a:prstGeom prst="roundRect">
            <a:avLst>
              <a:gd name="adj" fmla="val 12000"/>
            </a:avLst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643616" y="2084831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43616" y="2084831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6688" y="2743200"/>
            <a:ext cx="158191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모의 결제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6688" y="3182112"/>
            <a:ext cx="15819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0">
                <a:solidFill>
                  <a:srgbClr val="CBD5E1"/>
                </a:solidFill>
                <a:latin typeface="Malgun Gothic"/>
              </a:rPr>
              <a:t>재고 차감과 주문 내역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4389120"/>
            <a:ext cx="9902952" cy="914400"/>
          </a:xfrm>
          <a:prstGeom prst="roundRect">
            <a:avLst>
              <a:gd name="adj" fmla="val 12000"/>
            </a:avLst>
          </a:prstGeom>
          <a:solidFill>
            <a:srgbClr val="302B63"/>
          </a:solidFill>
          <a:ln w="12700">
            <a:solidFill>
              <a:srgbClr val="4C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4752" y="4590288"/>
            <a:ext cx="9281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마무리 문장  |  “사용자의 행동을 이해하고, 추천 이유를 설명하며,
실제 주문 흐름까지 연결되는 AI 이커머스를 구현했습니다.”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852160"/>
            <a:ext cx="8321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A78BFA"/>
                </a:solidFill>
                <a:latin typeface="Malgun Gothic"/>
              </a:rPr>
              <a:t>시연 중 오류가 나더라도 핵심은 ‘행동이 저장되고 다음 추천에 반영된다’는 점을 설명하면 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389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94A3B8"/>
                </a:solidFill>
                <a:latin typeface="Malgun Gothic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StylePick AI 초보자용 최종 발표</dc:title>
  <dc:subject>슬라이드별 발표 멘트가 포함된 개인화 이커머스 발표 자료</dc:subject>
  <dc:creator>StylePick AI</dc:creator>
  <cp:keywords/>
  <dc:description>기술 용어를 쉬운 뜻으로 풀고 발표 문장을 포함한 버전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